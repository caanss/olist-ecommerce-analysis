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86bda876e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f86bda876e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86bda876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86bda876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86bda87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86bda87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86bda876e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86bda876e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86bda876e_2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86bda876e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86bda876e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86bda876e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86bda876e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86bda876e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86bda876e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86bda876e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86bda876e_2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86bda876e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86bda876e_2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86bda876e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86bda876e_2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86bda876e_2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86bda876e_2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86bda876e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86bda876e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86bda876e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86bda876e_2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86bda876e_2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86bda876e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86bda876e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86bda876e_2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86bda876e_2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86bda876e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86bda876e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86bda876e_2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86bda876e_2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86bda876e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86bda876e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86bda876e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86bda876e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86bda876e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86bda876e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86bda876e_1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86bda876e_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86bda876e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f86bda876e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86bda876e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f86bda876e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72175" y="1190100"/>
            <a:ext cx="4987200" cy="27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📑 İçindekiler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48"/>
              <a:t>1. Veri Setini Hazırlama ve İnceleme</a:t>
            </a:r>
            <a:endParaRPr sz="144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48"/>
              <a:t>2. Tanımlayıcı İstatistikler ve Dağılım Analizi</a:t>
            </a:r>
            <a:endParaRPr sz="144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48"/>
              <a:t>3. Değişkenler Arası İlişki Analizi</a:t>
            </a:r>
            <a:endParaRPr sz="144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48"/>
              <a:t>4. Hipotez Testleri</a:t>
            </a:r>
            <a:endParaRPr sz="144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48"/>
              <a:t>5. Temel Bulgular ve İçgörüler</a:t>
            </a:r>
            <a:endParaRPr sz="144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48"/>
              <a:t>6. Aksiyon ve Öneriler</a:t>
            </a:r>
            <a:endParaRPr sz="144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48"/>
              <a:t>7. Sonuç</a:t>
            </a:r>
            <a:endParaRPr sz="1448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9350" y="0"/>
            <a:ext cx="407465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449950" y="79150"/>
            <a:ext cx="37854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E3E3E3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2"/>
                </a:solidFill>
              </a:rPr>
              <a:t>Sipariş Fiyat Analizi 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469665" y="1349600"/>
            <a:ext cx="1699500" cy="1032900"/>
          </a:xfrm>
          <a:prstGeom prst="roundRect">
            <a:avLst>
              <a:gd fmla="val 4683" name="adj"/>
            </a:avLst>
          </a:prstGeom>
          <a:solidFill>
            <a:srgbClr val="FFFFFF"/>
          </a:solidFill>
          <a:ln cap="flat" cmpd="sng" w="106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31481" rotWithShape="0" algn="bl" dir="3540000" dist="170462">
              <a:srgbClr val="000000">
                <a:alpha val="18000"/>
              </a:srgbClr>
            </a:outerShdw>
          </a:effectLst>
        </p:spPr>
        <p:txBody>
          <a:bodyPr anchorCtr="0" anchor="ctr" bIns="102275" lIns="102275" spcFirstLastPara="1" rIns="102275" wrap="square" tIns="10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6">
              <a:solidFill>
                <a:srgbClr val="FFFFFF"/>
              </a:solidFill>
              <a:highlight>
                <a:srgbClr val="FFFFFF"/>
              </a:highlight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469250" y="1449782"/>
            <a:ext cx="15444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775" lIns="102775" spcFirstLastPara="1" rIns="102775" wrap="square" tIns="10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16">
                <a:solidFill>
                  <a:srgbClr val="3A3D45"/>
                </a:solidFill>
              </a:rPr>
              <a:t>Ortalama</a:t>
            </a:r>
            <a:endParaRPr sz="2141">
              <a:solidFill>
                <a:srgbClr val="3A3D45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516576" y="1820649"/>
            <a:ext cx="15444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775" lIns="102775" spcFirstLastPara="1" rIns="102775" wrap="square" tIns="10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6"/>
              <a:buFont typeface="Arial"/>
              <a:buNone/>
            </a:pPr>
            <a:r>
              <a:rPr lang="en-GB" sz="2931">
                <a:solidFill>
                  <a:srgbClr val="3A3D45"/>
                </a:solidFill>
              </a:rPr>
              <a:t>120.65</a:t>
            </a:r>
            <a:endParaRPr sz="2931">
              <a:solidFill>
                <a:srgbClr val="3A3D45"/>
              </a:solidFill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449950" y="602475"/>
            <a:ext cx="841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  <a:highlight>
                  <a:srgbClr val="FFFFFF"/>
                </a:highlight>
              </a:rPr>
              <a:t>Sipariş fiyatlarının genel yapısını incelemek amacıyla ortalama, medyan, mod ve standart sapma değerleri hesaplanmış.</a:t>
            </a:r>
            <a:endParaRPr sz="1600">
              <a:solidFill>
                <a:srgbClr val="666666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5350" y="4317275"/>
            <a:ext cx="1258650" cy="82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2441243" y="1349600"/>
            <a:ext cx="1699500" cy="1032900"/>
          </a:xfrm>
          <a:prstGeom prst="roundRect">
            <a:avLst>
              <a:gd fmla="val 4683" name="adj"/>
            </a:avLst>
          </a:prstGeom>
          <a:solidFill>
            <a:srgbClr val="E8583A"/>
          </a:solidFill>
          <a:ln>
            <a:noFill/>
          </a:ln>
          <a:effectLst>
            <a:outerShdw blurRad="431481" rotWithShape="0" algn="bl" dir="3540000" dist="170462">
              <a:srgbClr val="000000">
                <a:alpha val="18000"/>
              </a:srgbClr>
            </a:outerShdw>
          </a:effectLst>
        </p:spPr>
        <p:txBody>
          <a:bodyPr anchorCtr="0" anchor="ctr" bIns="102275" lIns="102275" spcFirstLastPara="1" rIns="102275" wrap="square" tIns="10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6">
              <a:solidFill>
                <a:srgbClr val="FFFFFF"/>
              </a:solidFill>
              <a:highlight>
                <a:srgbClr val="FFFFFF"/>
              </a:highlight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2493852" y="1415794"/>
            <a:ext cx="15993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675" lIns="86675" spcFirstLastPara="1" rIns="86675" wrap="square" tIns="86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97">
                <a:solidFill>
                  <a:schemeClr val="lt1"/>
                </a:solidFill>
              </a:rPr>
              <a:t>Mod</a:t>
            </a:r>
            <a:endParaRPr sz="2086">
              <a:solidFill>
                <a:schemeClr val="lt1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2488637" y="1811673"/>
            <a:ext cx="15201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86675" lIns="86675" spcFirstLastPara="1" rIns="86675" wrap="square" tIns="86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40">
                <a:solidFill>
                  <a:schemeClr val="lt1"/>
                </a:solidFill>
              </a:rPr>
              <a:t>59.9</a:t>
            </a:r>
            <a:endParaRPr sz="2940">
              <a:solidFill>
                <a:schemeClr val="lt1"/>
              </a:solidFill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4412807" y="1349600"/>
            <a:ext cx="1699500" cy="1032900"/>
          </a:xfrm>
          <a:prstGeom prst="roundRect">
            <a:avLst>
              <a:gd fmla="val 4683" name="adj"/>
            </a:avLst>
          </a:prstGeom>
          <a:solidFill>
            <a:srgbClr val="1976D2"/>
          </a:solidFill>
          <a:ln>
            <a:noFill/>
          </a:ln>
          <a:effectLst>
            <a:outerShdw blurRad="431481" rotWithShape="0" algn="bl" dir="3540000" dist="170462">
              <a:srgbClr val="000000">
                <a:alpha val="18000"/>
              </a:srgbClr>
            </a:outerShdw>
          </a:effectLst>
        </p:spPr>
        <p:txBody>
          <a:bodyPr anchorCtr="0" anchor="ctr" bIns="102275" lIns="102275" spcFirstLastPara="1" rIns="102275" wrap="square" tIns="10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6">
              <a:solidFill>
                <a:srgbClr val="FFFFFF"/>
              </a:solidFill>
              <a:highlight>
                <a:srgbClr val="FFFFFF"/>
              </a:highlight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4533661" y="1462765"/>
            <a:ext cx="15195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86675" lIns="86675" spcFirstLastPara="1" rIns="86675" wrap="square" tIns="86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97">
                <a:solidFill>
                  <a:schemeClr val="lt1"/>
                </a:solidFill>
              </a:rPr>
              <a:t>Medyan</a:t>
            </a:r>
            <a:endParaRPr sz="2086">
              <a:solidFill>
                <a:schemeClr val="lt1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4520958" y="1855627"/>
            <a:ext cx="15195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86675" lIns="86675" spcFirstLastPara="1" rIns="86675" wrap="square" tIns="86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40">
                <a:solidFill>
                  <a:schemeClr val="lt1"/>
                </a:solidFill>
              </a:rPr>
              <a:t>74.99</a:t>
            </a:r>
            <a:endParaRPr sz="2940">
              <a:solidFill>
                <a:schemeClr val="lt1"/>
              </a:solidFill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6368152" y="1351261"/>
            <a:ext cx="1699500" cy="1032900"/>
          </a:xfrm>
          <a:prstGeom prst="roundRect">
            <a:avLst>
              <a:gd fmla="val 4683" name="adj"/>
            </a:avLst>
          </a:prstGeom>
          <a:solidFill>
            <a:srgbClr val="939393"/>
          </a:solidFill>
          <a:ln>
            <a:noFill/>
          </a:ln>
          <a:effectLst>
            <a:outerShdw blurRad="431481" rotWithShape="0" algn="bl" dir="3540000" dist="170462">
              <a:srgbClr val="000000">
                <a:alpha val="18000"/>
              </a:srgbClr>
            </a:outerShdw>
          </a:effectLst>
        </p:spPr>
        <p:txBody>
          <a:bodyPr anchorCtr="0" anchor="ctr" bIns="102275" lIns="102275" spcFirstLastPara="1" rIns="102275" wrap="square" tIns="10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6">
              <a:solidFill>
                <a:srgbClr val="FFFFFF"/>
              </a:solidFill>
              <a:highlight>
                <a:srgbClr val="FFFFFF"/>
              </a:highlight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6384382" y="1508133"/>
            <a:ext cx="17700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79050" lIns="79050" spcFirstLastPara="1" rIns="79050" wrap="square" tIns="7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29">
                <a:solidFill>
                  <a:schemeClr val="lt1"/>
                </a:solidFill>
              </a:rPr>
              <a:t>Standart Sapma</a:t>
            </a:r>
            <a:endParaRPr sz="1902">
              <a:solidFill>
                <a:schemeClr val="lt1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6657440" y="1914940"/>
            <a:ext cx="12531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79050" lIns="79050" spcFirstLastPara="1" rIns="79050" wrap="square" tIns="7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81">
                <a:solidFill>
                  <a:schemeClr val="lt1"/>
                </a:solidFill>
              </a:rPr>
              <a:t>183.63</a:t>
            </a:r>
            <a:endParaRPr sz="268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6" title="newplo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100" y="730288"/>
            <a:ext cx="8520598" cy="3145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6584" y="4350900"/>
            <a:ext cx="1207417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422100" y="3828050"/>
            <a:ext cx="841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86" name="Google Shape;86;p16"/>
          <p:cNvSpPr txBox="1"/>
          <p:nvPr>
            <p:ph type="ctrTitle"/>
          </p:nvPr>
        </p:nvSpPr>
        <p:spPr>
          <a:xfrm>
            <a:off x="311700" y="109575"/>
            <a:ext cx="73782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E3E3E3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2"/>
                </a:solidFill>
              </a:rPr>
              <a:t>Sipariş Fiyat Analizi Histogram Grafiği 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503900" y="3828050"/>
            <a:ext cx="7764300" cy="625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666666"/>
                </a:solidFill>
              </a:rPr>
              <a:t>Ödeme tutarlarının ana dağılımını daha net görebilmek için 1000 ve altındaki ödeme değerlerini filtreledik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ctrTitle"/>
          </p:nvPr>
        </p:nvSpPr>
        <p:spPr>
          <a:xfrm>
            <a:off x="449950" y="79150"/>
            <a:ext cx="76338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E3E3E3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highlight>
                <a:schemeClr val="lt1"/>
              </a:highlight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5350" y="4317275"/>
            <a:ext cx="1258650" cy="82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 title="Screenshot 2026-08-26 at 11.08.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575" y="829588"/>
            <a:ext cx="7580551" cy="348433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>
            <p:ph type="ctrTitle"/>
          </p:nvPr>
        </p:nvSpPr>
        <p:spPr>
          <a:xfrm>
            <a:off x="311700" y="109575"/>
            <a:ext cx="73782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E3E3E3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2"/>
                </a:solidFill>
              </a:rPr>
              <a:t>Sipariş Fiyat Analizi Kutu Grafiği (Boxplot)</a:t>
            </a:r>
            <a:endParaRPr b="1"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ctrTitle"/>
          </p:nvPr>
        </p:nvSpPr>
        <p:spPr>
          <a:xfrm>
            <a:off x="449950" y="79150"/>
            <a:ext cx="76338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E3E3E3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highlight>
                <a:schemeClr val="lt1"/>
              </a:highlight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5350" y="4317275"/>
            <a:ext cx="1258650" cy="82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>
            <p:ph type="ctrTitle"/>
          </p:nvPr>
        </p:nvSpPr>
        <p:spPr>
          <a:xfrm>
            <a:off x="311700" y="109575"/>
            <a:ext cx="73782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E3E3E3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2"/>
                </a:solidFill>
              </a:rPr>
              <a:t>Ürün Kategorilerine Göre Sipariş Analizi</a:t>
            </a:r>
            <a:endParaRPr b="1" sz="2000">
              <a:solidFill>
                <a:schemeClr val="dk2"/>
              </a:solidFill>
            </a:endParaRPr>
          </a:p>
        </p:txBody>
      </p:sp>
      <p:pic>
        <p:nvPicPr>
          <p:cNvPr id="103" name="Google Shape;103;p18" title="Screenshot 2026-08-26 at 11.10.2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77213"/>
            <a:ext cx="8839204" cy="323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584" y="4350900"/>
            <a:ext cx="1207417" cy="7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875" y="707150"/>
            <a:ext cx="8835724" cy="344634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278025" y="0"/>
            <a:ext cx="657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666666"/>
                </a:solidFill>
                <a:highlight>
                  <a:srgbClr val="FFFFFF"/>
                </a:highlight>
              </a:rPr>
              <a:t>En Fazla Sipariş Alan 10 Ürün Kategorisi</a:t>
            </a:r>
            <a:endParaRPr b="1" sz="2000">
              <a:solidFill>
                <a:srgbClr val="666666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ctrTitle"/>
          </p:nvPr>
        </p:nvSpPr>
        <p:spPr>
          <a:xfrm>
            <a:off x="524750" y="109575"/>
            <a:ext cx="53970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E3E3E3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2"/>
                </a:solidFill>
              </a:rPr>
              <a:t>Ödeme Yöntemlerinin Dağılımı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432250" y="674171"/>
            <a:ext cx="841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  <a:highlight>
                  <a:srgbClr val="FFFFFF"/>
                </a:highlight>
              </a:rPr>
              <a:t>Kredi kartı, banka kartı, boleto ve diğer ödeme yöntemlerinin toplam işlemler içerisindeki kullanım oranları pasta grafiği ile incelenmiştir.</a:t>
            </a:r>
            <a:endParaRPr sz="1800">
              <a:solidFill>
                <a:srgbClr val="666666"/>
              </a:solidFill>
            </a:endParaRPr>
          </a:p>
        </p:txBody>
      </p:sp>
      <p:pic>
        <p:nvPicPr>
          <p:cNvPr id="117" name="Google Shape;117;p20" title="Screenshot 2026-08-26 at 11.12.44.png"/>
          <p:cNvPicPr preferRelativeResize="0"/>
          <p:nvPr/>
        </p:nvPicPr>
        <p:blipFill rotWithShape="1">
          <a:blip r:embed="rId3">
            <a:alphaModFix/>
          </a:blip>
          <a:srcRect b="0" l="32423" r="0" t="0"/>
          <a:stretch/>
        </p:blipFill>
        <p:spPr>
          <a:xfrm>
            <a:off x="2343500" y="1308700"/>
            <a:ext cx="6563774" cy="376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5500" y="4291100"/>
            <a:ext cx="1298500" cy="8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ctrTitle"/>
          </p:nvPr>
        </p:nvSpPr>
        <p:spPr>
          <a:xfrm>
            <a:off x="311700" y="573525"/>
            <a:ext cx="6238500" cy="9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-GB" sz="2200">
                <a:solidFill>
                  <a:srgbClr val="666666"/>
                </a:solidFill>
              </a:rPr>
              <a:t>Müşteri Memnuniyeti Analizi</a:t>
            </a:r>
            <a:endParaRPr b="1" sz="220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 sz="2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24" name="Google Shape;124;p21"/>
          <p:cNvSpPr txBox="1"/>
          <p:nvPr>
            <p:ph idx="1" type="subTitle"/>
          </p:nvPr>
        </p:nvSpPr>
        <p:spPr>
          <a:xfrm>
            <a:off x="311700" y="6273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GB" sz="1340">
                <a:solidFill>
                  <a:srgbClr val="666666"/>
                </a:solidFill>
              </a:rPr>
              <a:t>Müşteri memnuniyetini değerlendirmek amacıyla ortalama ve medyan değerlendirme puanları hesaplanmış, müşteriler memnuniyet seviyelerine göre gruplandırılmış ve değerlendirme puanlarının dağılımı görselleştirilmiştir.</a:t>
            </a:r>
            <a:endParaRPr sz="1340">
              <a:solidFill>
                <a:srgbClr val="666666"/>
              </a:solidFill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237075" y="1286400"/>
            <a:ext cx="8500500" cy="14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76200" marR="762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666666"/>
                </a:solidFill>
              </a:rPr>
              <a:t>Ortalama müşteri memnuniyet puanı 4.09, medyan puan ise 5.00 olarak hesaplanmıştır.</a:t>
            </a:r>
            <a:endParaRPr sz="1300">
              <a:solidFill>
                <a:srgbClr val="666666"/>
              </a:solidFill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666666"/>
                </a:solidFill>
              </a:rPr>
              <a:t>Değerlendirme puanlarının genel olarak yüksek seviyede olduğu görülmektedir.</a:t>
            </a:r>
            <a:endParaRPr sz="1300">
              <a:solidFill>
                <a:srgbClr val="666666"/>
              </a:solidFill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666666"/>
                </a:solidFill>
              </a:rPr>
              <a:t>Medyan memnuniyet puanının 5 olması, müşteri değerlendirmelerinin en az yarısının 5 puan seviyesinde olduğunu gösterir.</a:t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73925"/>
            <a:ext cx="8669849" cy="2617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ctrTitle"/>
          </p:nvPr>
        </p:nvSpPr>
        <p:spPr>
          <a:xfrm>
            <a:off x="311700" y="109575"/>
            <a:ext cx="62421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E3E3E3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2"/>
                </a:solidFill>
              </a:rPr>
              <a:t>Genel Müşteri Memnuniyet Oranı 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422100" y="735421"/>
            <a:ext cx="8410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  <a:highlight>
                  <a:srgbClr val="FFFFFF"/>
                </a:highlight>
              </a:rPr>
              <a:t>Müşteri memnuniyetini değerlendirmek amacıyla ortalama ve medyan değerlendirme puanları hesaplanmış, müşteriler memnuniyet seviyelerine göre gruplandırılmış ve değerlendirme puanlarının dağılımı görselleştirilmiştir.</a:t>
            </a:r>
            <a:endParaRPr>
              <a:solidFill>
                <a:srgbClr val="666666"/>
              </a:solidFill>
            </a:endParaRPr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500" y="4291100"/>
            <a:ext cx="1298500" cy="8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2" title="Screenshot 2026-08-26 at 11.16.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7350" y="1627971"/>
            <a:ext cx="4770922" cy="3271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ctrTitle"/>
          </p:nvPr>
        </p:nvSpPr>
        <p:spPr>
          <a:xfrm>
            <a:off x="311700" y="109575"/>
            <a:ext cx="53970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666666"/>
                </a:solidFill>
                <a:highlight>
                  <a:schemeClr val="lt1"/>
                </a:highlight>
              </a:rPr>
              <a:t>Korelasyonlar</a:t>
            </a:r>
            <a:endParaRPr b="1" sz="2000">
              <a:solidFill>
                <a:srgbClr val="666666"/>
              </a:solidFill>
              <a:highlight>
                <a:schemeClr val="lt1"/>
              </a:highlight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422100" y="735421"/>
            <a:ext cx="84102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highlight>
                  <a:srgbClr val="FFFFFF"/>
                </a:highlight>
              </a:rPr>
              <a:t>3.1 Sipariş Fiyatı vs. Teslimat Süresi: Daha fazla harcama yapan müşterilerin teslimat sürelerine toleransı farklı mı?</a:t>
            </a:r>
            <a:endParaRPr i="1"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rgbClr val="FFFFFF"/>
                </a:highlight>
              </a:rPr>
              <a:t>Sipariş fiyatı ile teslimat süresi arasındaki korelasyon yaklaşık 0,06’dır. Bu değer 0’a oldukça yakın olduğundan, daha yüksek tutarlı siparişlerin belirgin şekilde daha uzun veya daha kısa sürede teslim edildiği söylenemez.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41" name="Google Shape;1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500" y="4291100"/>
            <a:ext cx="1298500" cy="8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ctrTitle"/>
          </p:nvPr>
        </p:nvSpPr>
        <p:spPr>
          <a:xfrm>
            <a:off x="301550" y="19725"/>
            <a:ext cx="22143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666666"/>
                </a:solidFill>
                <a:highlight>
                  <a:schemeClr val="lt1"/>
                </a:highlight>
              </a:rPr>
              <a:t>Korelasyonlar</a:t>
            </a:r>
            <a:endParaRPr b="1" sz="2000">
              <a:solidFill>
                <a:srgbClr val="666666"/>
              </a:solidFill>
              <a:highlight>
                <a:schemeClr val="lt1"/>
              </a:highlight>
            </a:endParaRPr>
          </a:p>
        </p:txBody>
      </p:sp>
      <p:pic>
        <p:nvPicPr>
          <p:cNvPr id="147" name="Google Shape;14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500" y="4291100"/>
            <a:ext cx="1298500" cy="8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 title="Ekran görüntüsü 2026-08-26 1119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275" y="584325"/>
            <a:ext cx="6241950" cy="336269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/>
        </p:nvSpPr>
        <p:spPr>
          <a:xfrm>
            <a:off x="2211625" y="109575"/>
            <a:ext cx="6076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GB" sz="1300">
                <a:solidFill>
                  <a:srgbClr val="666666"/>
                </a:solidFill>
                <a:highlight>
                  <a:srgbClr val="FFFFFF"/>
                </a:highlight>
              </a:rPr>
              <a:t>Daha fazla harcama yapan müşterilerin teslimat sürelerine toleransı farklı mı?</a:t>
            </a:r>
            <a:endParaRPr sz="1300">
              <a:solidFill>
                <a:srgbClr val="666666"/>
              </a:solidFill>
              <a:highlight>
                <a:srgbClr val="FFFFFF"/>
              </a:highlight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6979750" y="718275"/>
            <a:ext cx="2039100" cy="309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Sipariş fiyatı ile teslimat süresi arasındaki korelasyon yaklaşık </a:t>
            </a:r>
            <a:r>
              <a:rPr b="1" lang="en-GB" sz="1200">
                <a:solidFill>
                  <a:schemeClr val="dk2"/>
                </a:solidFill>
              </a:rPr>
              <a:t>0,06</a:t>
            </a:r>
            <a:r>
              <a:rPr lang="en-GB" sz="1200">
                <a:solidFill>
                  <a:schemeClr val="dk2"/>
                </a:solidFill>
              </a:rPr>
              <a:t>’dır. Bu değer 0’a oldukça yakın olduğundan, daha yüksek tutarlı siparişlerin belirgin şekilde daha uzun veya daha kısa sürede teslim edildiği söylenemez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770925" y="4489900"/>
            <a:ext cx="5823300" cy="45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1F1F1F"/>
                </a:solidFill>
                <a:latin typeface="Courier New"/>
                <a:ea typeface="Courier New"/>
                <a:cs typeface="Courier New"/>
                <a:sym typeface="Courier New"/>
              </a:rPr>
              <a:t>Sipariş fiyatı ile teslimat süresi arasındaki korelasyon: 0.06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6950" y="4383950"/>
            <a:ext cx="1157050" cy="75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5"/>
          <p:cNvSpPr txBox="1"/>
          <p:nvPr>
            <p:ph type="ctrTitle"/>
          </p:nvPr>
        </p:nvSpPr>
        <p:spPr>
          <a:xfrm>
            <a:off x="311700" y="109575"/>
            <a:ext cx="7966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E3E3E3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2"/>
                </a:solidFill>
              </a:rPr>
              <a:t>Sipariş Fiyatı vs. Memnuniyet</a:t>
            </a:r>
            <a:endParaRPr b="1" sz="2800">
              <a:solidFill>
                <a:schemeClr val="dk2"/>
              </a:solidFill>
            </a:endParaRPr>
          </a:p>
        </p:txBody>
      </p:sp>
      <p:sp>
        <p:nvSpPr>
          <p:cNvPr id="158" name="Google Shape;158;p25"/>
          <p:cNvSpPr txBox="1"/>
          <p:nvPr/>
        </p:nvSpPr>
        <p:spPr>
          <a:xfrm>
            <a:off x="407200" y="593999"/>
            <a:ext cx="8410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  <a:highlight>
                  <a:srgbClr val="FFFFFF"/>
                </a:highlight>
              </a:rPr>
              <a:t>Harcama miktarı müşteri memnuniyetini etkiliyor mu? Farklı harcama gruplarındaki müşterilerin ortalama memnuniyet puanları karşılaştırılarak harcama seviyesi ile memnuniyet arasındaki ilişki incelenmiştir.</a:t>
            </a:r>
            <a:endParaRPr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  <a:highlight>
                  <a:srgbClr val="FFFFFF"/>
                </a:highlight>
              </a:rPr>
              <a:t>Yüksek harcama yapan müşterilerin ortalama memnuniyet puanının daha düşük olduğu görülmektedir. Ancak bu sonuç harcama miktarının doğrudan memnuniyetsizliğe neden olduğunu göstermez.</a:t>
            </a:r>
            <a:endParaRPr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  <a:highlight>
                <a:srgbClr val="FFFFFF"/>
              </a:highlight>
            </a:endParaRPr>
          </a:p>
        </p:txBody>
      </p:sp>
      <p:pic>
        <p:nvPicPr>
          <p:cNvPr id="159" name="Google Shape;159;p25" title="Screenshot 2026-08-26 at 11.21.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200" y="1753476"/>
            <a:ext cx="7884902" cy="290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type="ctrTitle"/>
          </p:nvPr>
        </p:nvSpPr>
        <p:spPr>
          <a:xfrm>
            <a:off x="311700" y="163350"/>
            <a:ext cx="8412300" cy="91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434343"/>
                </a:solidFill>
                <a:highlight>
                  <a:schemeClr val="lt1"/>
                </a:highlight>
              </a:rPr>
              <a:t>Harcama miktarı ile müşteri memnuniyeti arasındaki korelasyonu hesapladık</a:t>
            </a:r>
            <a:endParaRPr b="1" sz="2800">
              <a:solidFill>
                <a:srgbClr val="434343"/>
              </a:solidFill>
              <a:highlight>
                <a:schemeClr val="lt1"/>
              </a:highlight>
            </a:endParaRPr>
          </a:p>
        </p:txBody>
      </p:sp>
      <p:sp>
        <p:nvSpPr>
          <p:cNvPr id="165" name="Google Shape;165;p26"/>
          <p:cNvSpPr txBox="1"/>
          <p:nvPr/>
        </p:nvSpPr>
        <p:spPr>
          <a:xfrm>
            <a:off x="422100" y="1142650"/>
            <a:ext cx="82998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  <a:highlight>
                  <a:schemeClr val="lt1"/>
                </a:highlight>
              </a:rPr>
              <a:t>Harcama miktarı ile müşteri memnuniyeti arasındaki korelasyonu </a:t>
            </a:r>
            <a:r>
              <a:rPr b="1" lang="en-GB" sz="1500">
                <a:solidFill>
                  <a:srgbClr val="666666"/>
                </a:solidFill>
                <a:highlight>
                  <a:schemeClr val="lt1"/>
                </a:highlight>
              </a:rPr>
              <a:t>-0.05</a:t>
            </a:r>
            <a:endParaRPr b="1" sz="15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666666"/>
                </a:solidFill>
                <a:highlight>
                  <a:schemeClr val="lt1"/>
                </a:highlight>
              </a:rPr>
              <a:t>0'a yakın → belirgin doğrusal ilişki yok pozitif → harcama arttıkça puan artma eğiliminde negatif →harcama arttıkça puan düşme eğiliminde</a:t>
            </a:r>
            <a:endParaRPr>
              <a:solidFill>
                <a:srgbClr val="666666"/>
              </a:solidFill>
              <a:highlight>
                <a:schemeClr val="lt1"/>
              </a:highlight>
            </a:endParaRPr>
          </a:p>
        </p:txBody>
      </p:sp>
      <p:pic>
        <p:nvPicPr>
          <p:cNvPr id="166" name="Google Shape;16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500" y="4291100"/>
            <a:ext cx="1298500" cy="8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6"/>
          <p:cNvSpPr/>
          <p:nvPr/>
        </p:nvSpPr>
        <p:spPr>
          <a:xfrm>
            <a:off x="699925" y="4436225"/>
            <a:ext cx="6198600" cy="36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F1F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50">
                <a:solidFill>
                  <a:srgbClr val="1F1F1F"/>
                </a:solidFill>
                <a:latin typeface="Courier New"/>
                <a:ea typeface="Courier New"/>
                <a:cs typeface="Courier New"/>
                <a:sym typeface="Courier New"/>
              </a:rPr>
              <a:t>Harcama miktarı ile müşteri memnuniyeti arasındaki korelasyon: -0.05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F1F1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500" y="4291100"/>
            <a:ext cx="1298500" cy="8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9325"/>
            <a:ext cx="5268925" cy="2434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7"/>
          <p:cNvPicPr preferRelativeResize="0"/>
          <p:nvPr/>
        </p:nvPicPr>
        <p:blipFill rotWithShape="1">
          <a:blip r:embed="rId5">
            <a:alphaModFix/>
          </a:blip>
          <a:srcRect b="0" l="0" r="-33422" t="0"/>
          <a:stretch/>
        </p:blipFill>
        <p:spPr>
          <a:xfrm>
            <a:off x="152400" y="2694575"/>
            <a:ext cx="6145975" cy="237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7"/>
          <p:cNvSpPr txBox="1"/>
          <p:nvPr/>
        </p:nvSpPr>
        <p:spPr>
          <a:xfrm>
            <a:off x="6528025" y="1079300"/>
            <a:ext cx="2247900" cy="22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176" name="Google Shape;176;p27"/>
          <p:cNvSpPr/>
          <p:nvPr/>
        </p:nvSpPr>
        <p:spPr>
          <a:xfrm>
            <a:off x="6298375" y="726200"/>
            <a:ext cx="2564100" cy="2991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2"/>
                </a:solidFill>
              </a:rPr>
              <a:t>Ürün kategorilerine göre ortalama memnuniyet puanlarının farklılaştığı görülmektedir. 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2"/>
                </a:solidFill>
              </a:rPr>
              <a:t>En yüksek ortalama puan yaklaşık 4,64 iken en düşük ortalama puan 2,50 seviyesindedir. 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ctrTitle"/>
          </p:nvPr>
        </p:nvSpPr>
        <p:spPr>
          <a:xfrm>
            <a:off x="311700" y="223300"/>
            <a:ext cx="8520600" cy="97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3.4 Ödeme Yöntemi vs. Memnuniyet: Ödeme yöntemi memnuniyetle ilişkili mi?</a:t>
            </a:r>
            <a:endParaRPr b="1" sz="2800"/>
          </a:p>
        </p:txBody>
      </p:sp>
      <p:sp>
        <p:nvSpPr>
          <p:cNvPr id="182" name="Google Shape;182;p28"/>
          <p:cNvSpPr txBox="1"/>
          <p:nvPr>
            <p:ph idx="1" type="subTitle"/>
          </p:nvPr>
        </p:nvSpPr>
        <p:spPr>
          <a:xfrm>
            <a:off x="4384250" y="1270975"/>
            <a:ext cx="4522500" cy="27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1400"/>
              <a:t>Kredi kartı, boleto, debit kart, voucher gibi farklı ödeme yöntemlerini kullananların ortalama memnuniyet puanları değişiyor mu?</a:t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1400"/>
              <a:t>Ödeme yöntemlerine göre müşteri memnuniyetinde belirgin bir farklılık görülmemektedir. Debit kart kullananların ortalama memnuniyet puanı 4,17 ile </a:t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1400"/>
              <a:t>en yüksek iken, </a:t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1400"/>
              <a:t>boleto ve kredi kartı 4,09, voucher ise 4,00 ortalamaya sahiptir. Bu değerlerin birbirine yakın olması, ödeme yönteminin müşteri memnuniyeti üzerinde güçlü bir etkisi olmadığını düşündürmektedir.</a:t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400"/>
          </a:p>
        </p:txBody>
      </p:sp>
      <p:pic>
        <p:nvPicPr>
          <p:cNvPr id="183" name="Google Shape;18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500" y="4291100"/>
            <a:ext cx="1298500" cy="8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49200"/>
            <a:ext cx="4079450" cy="2790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500" y="4291100"/>
            <a:ext cx="1298500" cy="8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9"/>
          <p:cNvSpPr txBox="1"/>
          <p:nvPr>
            <p:ph type="ctrTitle"/>
          </p:nvPr>
        </p:nvSpPr>
        <p:spPr>
          <a:xfrm>
            <a:off x="321850" y="91300"/>
            <a:ext cx="8410200" cy="92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E3E3E3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666666"/>
                </a:solidFill>
                <a:highlight>
                  <a:srgbClr val="FFFFFF"/>
                </a:highlight>
              </a:rPr>
              <a:t>Kargo Süresi vs. Memnuniyet</a:t>
            </a:r>
            <a:endParaRPr sz="2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666666"/>
              </a:solidFill>
              <a:highlight>
                <a:srgbClr val="FFFFFF"/>
              </a:highlight>
            </a:endParaRPr>
          </a:p>
        </p:txBody>
      </p:sp>
      <p:sp>
        <p:nvSpPr>
          <p:cNvPr id="191" name="Google Shape;191;p29"/>
          <p:cNvSpPr txBox="1"/>
          <p:nvPr/>
        </p:nvSpPr>
        <p:spPr>
          <a:xfrm>
            <a:off x="129300" y="522375"/>
            <a:ext cx="8885400" cy="23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  <a:highlight>
                  <a:srgbClr val="FFFFFF"/>
                </a:highlight>
              </a:rPr>
              <a:t>Daha hızlı teslimat, daha yüksek memnuniyet anlamına geliyor mu? Teslimat süresi kısaldıkça müşterilerin verdiği puan yükseliyor mu?</a:t>
            </a:r>
            <a:endParaRPr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666666"/>
                </a:solidFill>
                <a:highlight>
                  <a:srgbClr val="FFFFFF"/>
                </a:highlight>
              </a:rPr>
              <a:t>-0.33-negatif korelasyon Teslimat süresi ile müşteri memnuniyeti arasında -0,33 düzeyinde negatif bir ilişki bulunmaktadır. Bu sonuç, teslimat süresi uzadıkça müşteri memnuniyetinin düşme eğiliminde olduğunu; dolayısıyla daha hızlı teslimatların daha yüksek memnuniyetle ilişkili olduğunu göstermektedir.</a:t>
            </a:r>
            <a:endParaRPr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  <a:highlight>
                <a:srgbClr val="FFFFFF"/>
              </a:highlight>
            </a:endParaRPr>
          </a:p>
        </p:txBody>
      </p:sp>
      <p:pic>
        <p:nvPicPr>
          <p:cNvPr id="192" name="Google Shape;192;p29" title="Screenshot 2026-08-26 at 11.44.2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9075" y="1870725"/>
            <a:ext cx="5528773" cy="3272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500" y="4291100"/>
            <a:ext cx="1298500" cy="8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0"/>
          <p:cNvSpPr txBox="1"/>
          <p:nvPr>
            <p:ph type="ctrTitle"/>
          </p:nvPr>
        </p:nvSpPr>
        <p:spPr>
          <a:xfrm>
            <a:off x="321850" y="91300"/>
            <a:ext cx="8410200" cy="92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E3E3E3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666666"/>
                </a:solidFill>
              </a:rPr>
              <a:t>Hipotez Testleri </a:t>
            </a:r>
            <a:endParaRPr sz="2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666666"/>
              </a:solidFill>
              <a:highlight>
                <a:srgbClr val="FFFFFF"/>
              </a:highlight>
            </a:endParaRPr>
          </a:p>
        </p:txBody>
      </p:sp>
      <p:sp>
        <p:nvSpPr>
          <p:cNvPr id="199" name="Google Shape;199;p30"/>
          <p:cNvSpPr txBox="1"/>
          <p:nvPr>
            <p:ph type="ctrTitle"/>
          </p:nvPr>
        </p:nvSpPr>
        <p:spPr>
          <a:xfrm>
            <a:off x="316712" y="484625"/>
            <a:ext cx="4725000" cy="80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666666"/>
                </a:solidFill>
              </a:rPr>
              <a:t>Teslimat süresi memnuniyeti etkiliyor mu?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666666"/>
              </a:solidFill>
              <a:highlight>
                <a:srgbClr val="FFFFFF"/>
              </a:highlight>
            </a:endParaRPr>
          </a:p>
        </p:txBody>
      </p:sp>
      <p:sp>
        <p:nvSpPr>
          <p:cNvPr id="200" name="Google Shape;200;p30"/>
          <p:cNvSpPr txBox="1"/>
          <p:nvPr/>
        </p:nvSpPr>
        <p:spPr>
          <a:xfrm>
            <a:off x="321850" y="902875"/>
            <a:ext cx="841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434343"/>
                </a:solidFill>
                <a:highlight>
                  <a:srgbClr val="FFFFFF"/>
                </a:highlight>
              </a:rPr>
              <a:t>Hipotez:</a:t>
            </a:r>
            <a:r>
              <a:rPr lang="en-GB" sz="1200">
                <a:solidFill>
                  <a:srgbClr val="434343"/>
                </a:solidFill>
                <a:highlight>
                  <a:srgbClr val="FFFFFF"/>
                </a:highlight>
              </a:rPr>
              <a:t> </a:t>
            </a:r>
            <a:endParaRPr sz="12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66666"/>
                </a:solidFill>
                <a:highlight>
                  <a:srgbClr val="FFFFFF"/>
                </a:highlight>
              </a:rPr>
              <a:t>H0: Zamanında ve geç teslim edilen siparişlerin ortalama memnuniyet puanları aynıdır. </a:t>
            </a:r>
            <a:endParaRPr sz="12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66666"/>
                </a:solidFill>
                <a:highlight>
                  <a:srgbClr val="FFFFFF"/>
                </a:highlight>
              </a:rPr>
              <a:t>H1: Zamanında teslim edilen siparişlerin ortalama memnuniyet puanı daha yüksektir.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201" name="Google Shape;201;p30"/>
          <p:cNvSpPr txBox="1"/>
          <p:nvPr/>
        </p:nvSpPr>
        <p:spPr>
          <a:xfrm>
            <a:off x="395650" y="19275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  <a:highlight>
                  <a:srgbClr val="FFFFFF"/>
                </a:highlight>
              </a:rPr>
              <a:t>T-statistic: 89.55081413351807</a:t>
            </a:r>
            <a:endParaRPr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  <a:highlight>
                  <a:srgbClr val="FFFFFF"/>
                </a:highlight>
              </a:rPr>
              <a:t>P-value: 0.0</a:t>
            </a:r>
            <a:endParaRPr>
              <a:solidFill>
                <a:srgbClr val="666666"/>
              </a:solidFill>
            </a:endParaRPr>
          </a:p>
        </p:txBody>
      </p:sp>
      <p:pic>
        <p:nvPicPr>
          <p:cNvPr id="202" name="Google Shape;202;p30" title="Screenshot 2026-08-26 at 11.59.30.png"/>
          <p:cNvPicPr preferRelativeResize="0"/>
          <p:nvPr/>
        </p:nvPicPr>
        <p:blipFill rotWithShape="1">
          <a:blip r:embed="rId4">
            <a:alphaModFix/>
          </a:blip>
          <a:srcRect b="0" l="0" r="33550" t="0"/>
          <a:stretch/>
        </p:blipFill>
        <p:spPr>
          <a:xfrm>
            <a:off x="517600" y="2705675"/>
            <a:ext cx="5873726" cy="91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500" y="4291100"/>
            <a:ext cx="1298500" cy="8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1"/>
          <p:cNvSpPr txBox="1"/>
          <p:nvPr>
            <p:ph type="ctrTitle"/>
          </p:nvPr>
        </p:nvSpPr>
        <p:spPr>
          <a:xfrm>
            <a:off x="321850" y="133975"/>
            <a:ext cx="8410200" cy="56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666666"/>
                </a:solidFill>
                <a:highlight>
                  <a:schemeClr val="lt1"/>
                </a:highlight>
              </a:rPr>
              <a:t>Ürün kategorisi sipariş değerini etkiliyor mu? — ANOVA</a:t>
            </a:r>
            <a:r>
              <a:rPr lang="en-GB" sz="2000">
                <a:solidFill>
                  <a:srgbClr val="666666"/>
                </a:solidFill>
                <a:highlight>
                  <a:schemeClr val="lt1"/>
                </a:highlight>
              </a:rPr>
              <a:t> </a:t>
            </a:r>
            <a:endParaRPr sz="2000">
              <a:solidFill>
                <a:srgbClr val="666666"/>
              </a:solidFill>
              <a:highlight>
                <a:schemeClr val="lt1"/>
              </a:highlight>
            </a:endParaRPr>
          </a:p>
        </p:txBody>
      </p:sp>
      <p:sp>
        <p:nvSpPr>
          <p:cNvPr id="209" name="Google Shape;209;p31"/>
          <p:cNvSpPr txBox="1"/>
          <p:nvPr/>
        </p:nvSpPr>
        <p:spPr>
          <a:xfrm>
            <a:off x="84250" y="1713325"/>
            <a:ext cx="8885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  <a:highlight>
                  <a:srgbClr val="FFFFFF"/>
                </a:highlight>
              </a:rPr>
              <a:t> H0: Tüm ürün kategorilerinin ortalama fiyatları eşittir. H1: En az bir kategorinin ortalama fiyatı farklıdır.</a:t>
            </a:r>
            <a:endParaRPr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666666"/>
                </a:solidFill>
                <a:highlight>
                  <a:srgbClr val="FFFFFF"/>
                </a:highlight>
              </a:rPr>
              <a:t> F-statistic: 310.29875832410096</a:t>
            </a:r>
            <a:endParaRPr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666666"/>
                </a:solidFill>
                <a:highlight>
                  <a:srgbClr val="FFFFFF"/>
                </a:highlight>
              </a:rPr>
              <a:t> P-value: 0.0</a:t>
            </a:r>
            <a:endParaRPr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  <a:highlight>
                  <a:srgbClr val="FFFFFF"/>
                </a:highlight>
              </a:rPr>
              <a:t> H0 reddedilir. Kategoriler arasında anlamlı ortalama fiyat farkı vardır.</a:t>
            </a:r>
            <a:endParaRPr>
              <a:solidFill>
                <a:srgbClr val="666666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>
            <p:ph type="ctrTitle"/>
          </p:nvPr>
        </p:nvSpPr>
        <p:spPr>
          <a:xfrm>
            <a:off x="311700" y="230750"/>
            <a:ext cx="8520600" cy="56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020">
                <a:solidFill>
                  <a:srgbClr val="666666"/>
                </a:solidFill>
              </a:rPr>
              <a:t> Ödeme yöntemi tamamlanma oranını etkiliyor mu?</a:t>
            </a:r>
            <a:endParaRPr b="1" sz="2020">
              <a:solidFill>
                <a:srgbClr val="666666"/>
              </a:solidFill>
            </a:endParaRPr>
          </a:p>
        </p:txBody>
      </p:sp>
      <p:sp>
        <p:nvSpPr>
          <p:cNvPr id="215" name="Google Shape;215;p32"/>
          <p:cNvSpPr txBox="1"/>
          <p:nvPr>
            <p:ph idx="1" type="subTitle"/>
          </p:nvPr>
        </p:nvSpPr>
        <p:spPr>
          <a:xfrm>
            <a:off x="348925" y="1047675"/>
            <a:ext cx="8520600" cy="10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16"/>
              <a:t>H0: Ödeme yöntemi ile siparişin tamamlanma durumu bağımsızdır. </a:t>
            </a:r>
            <a:endParaRPr sz="1616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16"/>
              <a:t>H1: Ödeme yöntemi ile tamamlanma durumu arasında ilişki vardır.</a:t>
            </a:r>
            <a:endParaRPr sz="16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216" name="Google Shape;21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500" y="4291100"/>
            <a:ext cx="1298500" cy="8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2"/>
          <p:cNvSpPr txBox="1"/>
          <p:nvPr>
            <p:ph idx="1" type="subTitle"/>
          </p:nvPr>
        </p:nvSpPr>
        <p:spPr>
          <a:xfrm>
            <a:off x="311700" y="1736025"/>
            <a:ext cx="8520600" cy="13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Ki-kare testi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Chi-square: 0.7736541210239517</a:t>
            </a:r>
            <a:endParaRPr sz="14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P-value: 0.37908898921559064</a:t>
            </a: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highlight>
                  <a:schemeClr val="lt1"/>
                </a:highlight>
              </a:rPr>
              <a:t>H0 reddedilemez. Anlamlı ilişki için yeterli kanıt yoktur.</a:t>
            </a:r>
            <a:endParaRPr sz="14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500" y="4291100"/>
            <a:ext cx="1298500" cy="8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75" y="660775"/>
            <a:ext cx="8839202" cy="2705457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3"/>
          <p:cNvSpPr txBox="1"/>
          <p:nvPr>
            <p:ph type="ctrTitle"/>
          </p:nvPr>
        </p:nvSpPr>
        <p:spPr>
          <a:xfrm>
            <a:off x="311700" y="139425"/>
            <a:ext cx="6668100" cy="56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020">
                <a:solidFill>
                  <a:srgbClr val="666666"/>
                </a:solidFill>
              </a:rPr>
              <a:t>Teslimat Durumuna Göre Ortalama Memnuniyet</a:t>
            </a:r>
            <a:endParaRPr b="1" sz="2020">
              <a:solidFill>
                <a:srgbClr val="666666"/>
              </a:solidFill>
            </a:endParaRPr>
          </a:p>
        </p:txBody>
      </p:sp>
      <p:sp>
        <p:nvSpPr>
          <p:cNvPr id="225" name="Google Shape;225;p33"/>
          <p:cNvSpPr/>
          <p:nvPr/>
        </p:nvSpPr>
        <p:spPr>
          <a:xfrm>
            <a:off x="699925" y="4078275"/>
            <a:ext cx="6198600" cy="727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F1F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2"/>
                </a:solidFill>
              </a:rPr>
              <a:t>P-value: 0.379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2"/>
                </a:solidFill>
              </a:rPr>
              <a:t>H0 reddedilemez. Teslimat durumuna göre memnuniyet puanlarında anlamlı fark için yeterli kanıt yoktur.</a:t>
            </a:r>
            <a:endParaRPr sz="1150">
              <a:solidFill>
                <a:srgbClr val="1F1F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F1F1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500" y="4291100"/>
            <a:ext cx="1298500" cy="8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36225"/>
            <a:ext cx="8839200" cy="2688396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4"/>
          <p:cNvSpPr txBox="1"/>
          <p:nvPr/>
        </p:nvSpPr>
        <p:spPr>
          <a:xfrm>
            <a:off x="680900" y="3294850"/>
            <a:ext cx="66099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33" name="Google Shape;233;p34"/>
          <p:cNvSpPr/>
          <p:nvPr/>
        </p:nvSpPr>
        <p:spPr>
          <a:xfrm>
            <a:off x="680900" y="3563600"/>
            <a:ext cx="6807300" cy="727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2"/>
                </a:solidFill>
              </a:rPr>
              <a:t>ANOVA P-value: 0.0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2"/>
                </a:solidFill>
              </a:rPr>
              <a:t>H0 reddedilir. Ürün kategorileri arasında ortalama fiyat açısından anlamlı fark vardır. </a:t>
            </a:r>
            <a:endParaRPr>
              <a:solidFill>
                <a:srgbClr val="1F1F1F"/>
              </a:solidFill>
            </a:endParaRPr>
          </a:p>
        </p:txBody>
      </p:sp>
      <p:sp>
        <p:nvSpPr>
          <p:cNvPr id="234" name="Google Shape;234;p34"/>
          <p:cNvSpPr txBox="1"/>
          <p:nvPr>
            <p:ph type="ctrTitle"/>
          </p:nvPr>
        </p:nvSpPr>
        <p:spPr>
          <a:xfrm>
            <a:off x="311700" y="139425"/>
            <a:ext cx="6668100" cy="56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020">
                <a:solidFill>
                  <a:srgbClr val="666666"/>
                </a:solidFill>
              </a:rPr>
              <a:t>Ürun Kategorilerine Göre Ortalama Fiyat</a:t>
            </a:r>
            <a:endParaRPr b="1" sz="202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500" y="4291100"/>
            <a:ext cx="1298500" cy="8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975" y="796450"/>
            <a:ext cx="8584099" cy="26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5"/>
          <p:cNvSpPr/>
          <p:nvPr/>
        </p:nvSpPr>
        <p:spPr>
          <a:xfrm>
            <a:off x="628875" y="3642050"/>
            <a:ext cx="6807300" cy="103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P-value: 0.379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H0 reddedilemez. Ödeme yöntemi ile sipariş tamamlanma durumu arasında anlamlı ilişki olduğunu gösterecek yeterli kanıt yoktur.</a:t>
            </a: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2"/>
              </a:solidFill>
            </a:endParaRPr>
          </a:p>
        </p:txBody>
      </p:sp>
      <p:sp>
        <p:nvSpPr>
          <p:cNvPr id="242" name="Google Shape;242;p35"/>
          <p:cNvSpPr txBox="1"/>
          <p:nvPr>
            <p:ph type="ctrTitle"/>
          </p:nvPr>
        </p:nvSpPr>
        <p:spPr>
          <a:xfrm>
            <a:off x="311700" y="139425"/>
            <a:ext cx="6668100" cy="56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020">
                <a:solidFill>
                  <a:srgbClr val="666666"/>
                </a:solidFill>
              </a:rPr>
              <a:t>Ödeme Yöntemine Göre Sipariş Tamamlama Oranı</a:t>
            </a:r>
            <a:endParaRPr b="1" sz="202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/>
          <p:nvPr>
            <p:ph idx="1" type="subTitle"/>
          </p:nvPr>
        </p:nvSpPr>
        <p:spPr>
          <a:xfrm>
            <a:off x="356350" y="660600"/>
            <a:ext cx="8520600" cy="3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-GB" sz="1300">
                <a:solidFill>
                  <a:srgbClr val="666666"/>
                </a:solidFill>
              </a:rPr>
              <a:t>Ham e-ticaret verisi incelendi, eksik ve hatalı değerler kontrol edilerek veri analize hazırlandı.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-GB" sz="1300">
                <a:solidFill>
                  <a:srgbClr val="666666"/>
                </a:solidFill>
              </a:rPr>
              <a:t>Fiyat, ürün kategorisi, ödeme yöntemi, teslimat ve müşteri memnuniyeti gibi temel metrikler analiz edildi.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-GB" sz="1300">
                <a:solidFill>
                  <a:srgbClr val="666666"/>
                </a:solidFill>
              </a:rPr>
              <a:t>Amaç yalnızca veriyi özetlemek değil, iş kararlarını destekleyebilecek anlamlı ilişkileri ortaya çıkarmaktı.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-GB" sz="1300">
                <a:solidFill>
                  <a:srgbClr val="666666"/>
                </a:solidFill>
              </a:rPr>
              <a:t>Teslimat gecikmesi ile müşteri memnuniyeti arasındaki ilişki </a:t>
            </a:r>
            <a:r>
              <a:rPr b="1" lang="en-GB" sz="1300">
                <a:solidFill>
                  <a:srgbClr val="666666"/>
                </a:solidFill>
              </a:rPr>
              <a:t>t-testi</a:t>
            </a:r>
            <a:r>
              <a:rPr lang="en-GB" sz="1300">
                <a:solidFill>
                  <a:srgbClr val="666666"/>
                </a:solidFill>
              </a:rPr>
              <a:t> ile incelendi.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-GB" sz="1300">
                <a:solidFill>
                  <a:srgbClr val="666666"/>
                </a:solidFill>
              </a:rPr>
              <a:t>Ürün kategorileri arasındaki fiyat farklılıkları </a:t>
            </a:r>
            <a:r>
              <a:rPr b="1" lang="en-GB" sz="1300">
                <a:solidFill>
                  <a:srgbClr val="666666"/>
                </a:solidFill>
              </a:rPr>
              <a:t>ANOVA testi</a:t>
            </a:r>
            <a:r>
              <a:rPr lang="en-GB" sz="1300">
                <a:solidFill>
                  <a:srgbClr val="666666"/>
                </a:solidFill>
              </a:rPr>
              <a:t> ile değerlendirildi.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-GB" sz="1300">
                <a:solidFill>
                  <a:srgbClr val="666666"/>
                </a:solidFill>
              </a:rPr>
              <a:t>Ödeme yöntemi ile sipariş tamamlanma durumu arasındaki ilişki </a:t>
            </a:r>
            <a:r>
              <a:rPr b="1" lang="en-GB" sz="1300">
                <a:solidFill>
                  <a:srgbClr val="666666"/>
                </a:solidFill>
              </a:rPr>
              <a:t>Ki-kare testi</a:t>
            </a:r>
            <a:r>
              <a:rPr lang="en-GB" sz="1300">
                <a:solidFill>
                  <a:srgbClr val="666666"/>
                </a:solidFill>
              </a:rPr>
              <a:t> ile analiz edildi.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-GB" sz="1300">
                <a:solidFill>
                  <a:srgbClr val="666666"/>
                </a:solidFill>
              </a:rPr>
              <a:t>Hipotez testlerinde </a:t>
            </a:r>
            <a:r>
              <a:rPr b="1" lang="en-GB" sz="1300">
                <a:solidFill>
                  <a:srgbClr val="666666"/>
                </a:solidFill>
              </a:rPr>
              <a:t>p-değeri &lt; 0.05</a:t>
            </a:r>
            <a:r>
              <a:rPr lang="en-GB" sz="1300">
                <a:solidFill>
                  <a:srgbClr val="666666"/>
                </a:solidFill>
              </a:rPr>
              <a:t> olduğunda sonuç istatistiksel olarak anlamlı kabul edildi.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-GB" sz="1300">
                <a:solidFill>
                  <a:srgbClr val="666666"/>
                </a:solidFill>
              </a:rPr>
              <a:t>Anlamlı sonuçlarda </a:t>
            </a:r>
            <a:r>
              <a:rPr b="1" lang="en-GB" sz="1300">
                <a:solidFill>
                  <a:srgbClr val="666666"/>
                </a:solidFill>
              </a:rPr>
              <a:t>H0 (sıfır hipotezi) reddedildi</a:t>
            </a:r>
            <a:r>
              <a:rPr lang="en-GB" sz="1300">
                <a:solidFill>
                  <a:srgbClr val="666666"/>
                </a:solidFill>
              </a:rPr>
              <a:t>.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-GB" sz="1300">
                <a:solidFill>
                  <a:srgbClr val="666666"/>
                </a:solidFill>
              </a:rPr>
              <a:t>Böylece gözlemlenen farkların tesadüfi olup olmadığı istatistiksel olarak kontrol edildi.</a:t>
            </a:r>
            <a:endParaRPr sz="130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500" y="4291100"/>
            <a:ext cx="1298500" cy="8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37" title="olist_thank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